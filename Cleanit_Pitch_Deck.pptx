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Cleanit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Proving the Model: A ₹50 Lakh Pilot to Validate India's First Self-Funding Cleanup Engine</a:t>
            </a:r>
          </a:p>
          <a:p/>
          <a:p>
            <a:r>
              <a:t>[Date] | [Presenter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$10B+ Inefficiency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Core Frustration: Citizens feel powerless. Civic apathy sets in.</a:t>
            </a:r>
          </a:p>
          <a:p>
            <a:r>
              <a:t>The Economic Cost:</a:t>
            </a:r>
          </a:p>
          <a:p>
            <a:pPr lvl="1"/>
            <a:r>
              <a:t>Municipal Burden: Thousands of crores spent with visible inefficiencies.</a:t>
            </a:r>
          </a:p>
          <a:p>
            <a:pPr lvl="1"/>
            <a:r>
              <a:t>Impact: Littered spaces deter tourism and lower property values.</a:t>
            </a:r>
          </a:p>
          <a:p>
            <a:r>
              <a:t>The Broken Cycle: Current solutions are non-scalable or opaque.</a:t>
            </a:r>
          </a:p>
          <a:p>
            <a:pPr lvl="1"/>
            <a:r>
              <a:t>Missing: A real-time, accountable, and transparent system.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Two-Sided Marketplace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not just an app; we are a self-funding cleanup ecosystem.</a:t>
            </a:r>
          </a:p>
          <a:p>
            <a:r>
              <a:t>The Flywheel:</a:t>
            </a:r>
          </a:p>
          <a:p>
            <a:pPr lvl="1"/>
            <a:r>
              <a:t>1. Citizen Reports &amp; Funds: User posts photo + pledges ₹100.</a:t>
            </a:r>
          </a:p>
          <a:p>
            <a:pPr lvl="1"/>
            <a:r>
              <a:t>2. Cleaner Acts: Verified cleaner claims and completes job.</a:t>
            </a:r>
          </a:p>
          <a:p>
            <a:pPr lvl="1"/>
            <a:r>
              <a:t>3. Platform Verifies &amp; Pays: ₹450 (90%) released to cleaner.</a:t>
            </a:r>
          </a:p>
          <a:p>
            <a:pPr lvl="1"/>
            <a:r>
              <a:t>4. Platform Earns: ₹50 (10%) platform fee.</a:t>
            </a:r>
          </a:p>
          <a:p>
            <a:pPr lvl="1"/>
            <a:r>
              <a:t>5. Data Accumulates: AI training on costs and patterns.</a:t>
            </a:r>
          </a:p>
          <a:p>
            <a:r>
              <a:t>Evolution: Recurring revenue via 'Cleanity Subscription' (₹310/mo).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Billion-Dollar 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Addressable Market (TAM): ~500 Million (Urban Indians).</a:t>
            </a:r>
          </a:p>
          <a:p>
            <a:r>
              <a:t>Serviceable Addressable Market (SAM): ~100 Million (Tier 1 &amp; 2 cities).</a:t>
            </a:r>
          </a:p>
          <a:p>
            <a:r>
              <a:t>Serviceable Obtainable Market (SOM - Year 5): 10 Million Paid Subscribers.</a:t>
            </a:r>
          </a:p>
          <a:p>
            <a:r>
              <a:t>Revenue Potential: ₹15,000+ Cr ARR within core SAM.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 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Comparison:</a:t>
            </a:r>
          </a:p>
          <a:p>
            <a:pPr lvl="1"/>
            <a:r>
              <a:t>Funding: Cleanit (User-Pays) vs Municipal (Tax) vs Non-Profits (Donations).</a:t>
            </a:r>
          </a:p>
          <a:p>
            <a:pPr lvl="1"/>
            <a:r>
              <a:t>Speed: Minutes/Hours vs Weeks/Months.</a:t>
            </a:r>
          </a:p>
          <a:p>
            <a:pPr lvl="1"/>
            <a:r>
              <a:t>Transparency: Full Audit Trail vs Opaque.</a:t>
            </a:r>
          </a:p>
          <a:p>
            <a:r>
              <a:t>Our Unbeatable Moats:</a:t>
            </a:r>
          </a:p>
          <a:p>
            <a:pPr lvl="1"/>
            <a:r>
              <a:t>1. The Data Moat: Largest dataset on hyper-local cleanup economics.</a:t>
            </a:r>
          </a:p>
          <a:p>
            <a:pPr lvl="1"/>
            <a:r>
              <a:t>2. Dual-Sided Network Effect: More users &lt;-&gt; More cleaners.</a:t>
            </a:r>
          </a:p>
          <a:p>
            <a:pPr lvl="1"/>
            <a:r>
              <a:t>3. Brand: 'Cleanit' becomes synonymous with 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Path to Profitability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Revenue Streams:</a:t>
            </a:r>
          </a:p>
          <a:p>
            <a:pPr lvl="1"/>
            <a:r>
              <a:t>1. Platform Fees (10% on campaigns).</a:t>
            </a:r>
          </a:p>
          <a:p>
            <a:pPr lvl="1"/>
            <a:r>
              <a:t>2. Service Fees (30-40% on tips).</a:t>
            </a:r>
          </a:p>
          <a:p>
            <a:pPr lvl="1"/>
            <a:r>
              <a:t>3. Subscription (Primary): ₹310/month.</a:t>
            </a:r>
          </a:p>
          <a:p>
            <a:r>
              <a:t>Unit Economics:</a:t>
            </a:r>
          </a:p>
          <a:p>
            <a:pPr lvl="1"/>
            <a:r>
              <a:t>CAC: ₹1,000</a:t>
            </a:r>
          </a:p>
          <a:p>
            <a:pPr lvl="1"/>
            <a:r>
              <a:t>Gross Margin: 20%</a:t>
            </a:r>
          </a:p>
          <a:p>
            <a:pPr lvl="1"/>
            <a:r>
              <a:t>LTV: ₹2,232 (36 months)</a:t>
            </a:r>
          </a:p>
          <a:p>
            <a:pPr lvl="1"/>
            <a:r>
              <a:t>LTV:CAC Ratio: 2.23 (Investable &amp; Scalable).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City-by-City Domination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Beachhead (Months 1-9)</a:t>
            </a:r>
          </a:p>
          <a:p>
            <a:pPr lvl="1"/>
            <a:r>
              <a:t>Target: 1 City (e.g., Bangalore), 10k Users. Goal: Prove Unit Economics.</a:t>
            </a:r>
          </a:p>
          <a:p>
            <a:r>
              <a:t>Phase 2: Lightning Expansion (Months 10-24)</a:t>
            </a:r>
          </a:p>
          <a:p>
            <a:pPr lvl="1"/>
            <a:r>
              <a:t>Target: Top 10 Metros, 500k Users. Goal: Dominate Urban Centers.</a:t>
            </a:r>
          </a:p>
          <a:p>
            <a:r>
              <a:t>Phase 3: National Saturation (Year 3+)</a:t>
            </a:r>
          </a:p>
          <a:p>
            <a:pPr lvl="1"/>
            <a:r>
              <a:t>Target: Pan-India, 10M+ Subs. Goal: National Utility.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5-Year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5 Metrics:</a:t>
            </a:r>
          </a:p>
          <a:p>
            <a:pPr lvl="1"/>
            <a:r>
              <a:t>Paid Subscribers: 10 Million</a:t>
            </a:r>
          </a:p>
          <a:p>
            <a:pPr lvl="1"/>
            <a:r>
              <a:t>Annual Revenue: ~₹3,720 Cr</a:t>
            </a:r>
          </a:p>
          <a:p>
            <a:pPr lvl="1"/>
            <a:r>
              <a:t>Profitability: EBITDA Positive (₹174 Cr)</a:t>
            </a:r>
          </a:p>
          <a:p>
            <a:r>
              <a:t>Valuation Impact:</a:t>
            </a:r>
          </a:p>
          <a:p>
            <a:pPr lvl="1"/>
            <a:r>
              <a:t>Profit-based valuation (₹250 Cr floor) to Revenue-based (₹800+ Cr).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Pre-Seed Ask: ₹50 Lakhs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Objective: 6-month pilot to de-risk the vision.</a:t>
            </a:r>
          </a:p>
          <a:p>
            <a:r>
              <a:t>Use of Funds:</a:t>
            </a:r>
          </a:p>
          <a:p>
            <a:pPr lvl="1"/>
            <a:r>
              <a:t>Tech Team (70% - ₹35L): Lead, Full-Stack, UI/UX.</a:t>
            </a:r>
          </a:p>
          <a:p>
            <a:pPr lvl="1"/>
            <a:r>
              <a:t>Marketing &amp; Ops (15% - ₹7.5L): Activation &amp; Incentives.</a:t>
            </a:r>
          </a:p>
          <a:p>
            <a:pPr lvl="1"/>
            <a:r>
              <a:t>Cloud &amp; Infra (10% - ₹5L): Server, DB, Gateway.</a:t>
            </a:r>
          </a:p>
          <a:p>
            <a:pPr lvl="1"/>
            <a:r>
              <a:t>Legal (5% - ₹2.5L): Compliance.</a:t>
            </a:r>
          </a:p>
          <a:p>
            <a:r>
              <a:t>Targets: 1,000 Active Users, Positive Contribution Margin.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Perfect Storm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Cultural Shift: Demand for environmental accountability.</a:t>
            </a:r>
          </a:p>
          <a:p>
            <a:r>
              <a:t>2. Tech Enablers: Smartphones + UPI.</a:t>
            </a:r>
          </a:p>
          <a:p>
            <a:r>
              <a:t>3. The 'Blinkit/Zepto' Effect: Expectation of on-demand civic services.</a:t>
            </a:r>
          </a:p>
          <a:p>
            <a:r>
              <a:t>Conclusion: We are building the essential public utility for the 21st-century Indian city.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